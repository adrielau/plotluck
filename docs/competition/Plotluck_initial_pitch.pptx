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94944" y="1508760"/>
            <a:ext cx="106984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5200" b="1">
                <a:solidFill>
                  <a:srgbClr val="1D2B25"/>
                </a:solidFill>
                <a:latin typeface="Calibri"/>
              </a:rPr>
              <a:t>Plotluck</a:t>
            </a:r>
            <a:endParaRPr lang="en-GB"/>
          </a:p>
        </p:txBody>
      </p:sp>
      <p:sp>
        <p:nvSpPr>
          <p:cNvPr id="3" name="Text 3"/>
          <p:cNvSpPr txBox="1"/>
          <p:nvPr/>
        </p:nvSpPr>
        <p:spPr>
          <a:xfrm>
            <a:off x="722376" y="2606040"/>
            <a:ext cx="9784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300" b="0">
                <a:solidFill>
                  <a:srgbClr val="315C3A"/>
                </a:solidFill>
                <a:latin typeface="Calibri"/>
              </a:rPr>
              <a:t>Where could your restaurant work?</a:t>
            </a:r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31520" y="5093208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800" b="0">
                <a:solidFill>
                  <a:srgbClr val="53665B"/>
                </a:solidFill>
                <a:latin typeface="Calibri"/>
              </a:rPr>
              <a:t>IBM Z Datathon 2026  ·  Community Impact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8368" y="438912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3100" b="1">
                <a:solidFill>
                  <a:srgbClr val="1D2B25"/>
                </a:solidFill>
                <a:latin typeface="Calibri"/>
              </a:rPr>
              <a:t>Choosing where to open is hard</a:t>
            </a:r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04088" y="1901952"/>
            <a:ext cx="502920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2700" b="1">
                <a:solidFill>
                  <a:srgbClr val="1D2B25"/>
                </a:solidFill>
                <a:latin typeface="Calibri"/>
              </a:rPr>
              <a:t>One big decision</a:t>
            </a:r>
            <a:endParaRPr lang="en-GB"/>
          </a:p>
          <a:p>
            <a:pPr algn="l"/>
            <a:r>
              <a:rPr lang="en-GB" sz="2200" b="0">
                <a:solidFill>
                  <a:srgbClr val="1D2B25"/>
                </a:solidFill>
                <a:latin typeface="Calibri"/>
              </a:rPr>
              <a:t>For a small restaurant, the wrong location can be costly. It is hard to compare areas before signing a lease.</a:t>
            </a:r>
            <a:endParaRPr lang="en-GB"/>
          </a:p>
        </p:txBody>
      </p:sp>
      <p:sp>
        <p:nvSpPr>
          <p:cNvPr id="5" name="Text 5"/>
          <p:cNvSpPr txBox="1"/>
          <p:nvPr/>
        </p:nvSpPr>
        <p:spPr>
          <a:xfrm>
            <a:off x="6153912" y="1901952"/>
            <a:ext cx="512064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2700" b="1">
                <a:solidFill>
                  <a:srgbClr val="315C3A"/>
                </a:solidFill>
                <a:latin typeface="Calibri"/>
              </a:rPr>
              <a:t>A place to start</a:t>
            </a:r>
            <a:endParaRPr lang="en-GB"/>
          </a:p>
          <a:p>
            <a:pPr algn="l"/>
            <a:r>
              <a:rPr lang="en-GB" sz="2200" b="0">
                <a:solidFill>
                  <a:srgbClr val="1D2B25"/>
                </a:solidFill>
                <a:latin typeface="Calibri"/>
              </a:rPr>
              <a:t>Plotluck helps founders compare English postcode districts for the restaurant they want to open.</a:t>
            </a:r>
            <a:endParaRPr lang="en-GB"/>
          </a:p>
        </p:txBody>
      </p:sp>
      <p:sp>
        <p:nvSpPr>
          <p:cNvPr id="6" name="Text 6"/>
          <p:cNvSpPr txBox="1"/>
          <p:nvPr/>
        </p:nvSpPr>
        <p:spPr>
          <a:xfrm>
            <a:off x="713232" y="562356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>
                <a:solidFill>
                  <a:srgbClr val="53665B"/>
                </a:solidFill>
                <a:latin typeface="Calibri"/>
              </a:rPr>
              <a:t>Built for independent founders, including people bringing under-represented cuisines to new areas.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8368" y="438912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3100" b="1">
                <a:solidFill>
                  <a:srgbClr val="1D2B25"/>
                </a:solidFill>
                <a:latin typeface="Calibri"/>
              </a:rPr>
              <a:t>From your idea to a shortlist</a:t>
            </a:r>
            <a:endParaRPr lang="en-GB"/>
          </a:p>
        </p:txBody>
      </p:sp>
      <p:sp>
        <p:nvSpPr>
          <p:cNvPr id="3" name="Text 3"/>
          <p:cNvSpPr txBox="1"/>
          <p:nvPr/>
        </p:nvSpPr>
        <p:spPr>
          <a:xfrm>
            <a:off x="676656" y="1033272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>
                <a:solidFill>
                  <a:srgbClr val="53665B"/>
                </a:solidFill>
                <a:latin typeface="Calibri"/>
              </a:rPr>
              <a:t>One description starts the search; Plotluck asks when a detail is missing</a:t>
            </a:r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49808" y="2148840"/>
            <a:ext cx="34015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2700" b="1">
                <a:solidFill>
                  <a:srgbClr val="315C3A"/>
                </a:solidFill>
                <a:latin typeface="Calibri"/>
              </a:rPr>
              <a:t>Describe</a:t>
            </a:r>
            <a:endParaRPr lang="en-GB"/>
          </a:p>
        </p:txBody>
      </p:sp>
      <p:sp>
        <p:nvSpPr>
          <p:cNvPr id="5" name="Text 5"/>
          <p:cNvSpPr txBox="1"/>
          <p:nvPr/>
        </p:nvSpPr>
        <p:spPr>
          <a:xfrm>
            <a:off x="749808" y="2798064"/>
            <a:ext cx="3310128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100" b="0">
                <a:solidFill>
                  <a:srgbClr val="1D2B25"/>
                </a:solidFill>
                <a:latin typeface="Calibri"/>
              </a:rPr>
              <a:t>Tell Plotluck what you want to open and where you want to look.</a:t>
            </a:r>
            <a:endParaRPr lang="en-GB"/>
          </a:p>
        </p:txBody>
      </p:sp>
      <p:sp>
        <p:nvSpPr>
          <p:cNvPr id="6" name="Text 6"/>
          <p:cNvSpPr txBox="1"/>
          <p:nvPr/>
        </p:nvSpPr>
        <p:spPr>
          <a:xfrm>
            <a:off x="4480560" y="2148840"/>
            <a:ext cx="34015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2700" b="1">
                <a:solidFill>
                  <a:srgbClr val="315C3A"/>
                </a:solidFill>
                <a:latin typeface="Calibri"/>
              </a:rPr>
              <a:t>Clarify</a:t>
            </a:r>
            <a:endParaRPr lang="en-GB"/>
          </a:p>
        </p:txBody>
      </p:sp>
      <p:sp>
        <p:nvSpPr>
          <p:cNvPr id="7" name="Text 7"/>
          <p:cNvSpPr txBox="1"/>
          <p:nvPr/>
        </p:nvSpPr>
        <p:spPr>
          <a:xfrm>
            <a:off x="4480560" y="2798064"/>
            <a:ext cx="3310128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100" b="0">
                <a:solidFill>
                  <a:srgbClr val="1D2B25"/>
                </a:solidFill>
                <a:latin typeface="Calibri"/>
              </a:rPr>
              <a:t>If a detail is unclear, answer a focused follow-up question.</a:t>
            </a:r>
            <a:endParaRPr lang="en-GB"/>
          </a:p>
        </p:txBody>
      </p:sp>
      <p:sp>
        <p:nvSpPr>
          <p:cNvPr id="8" name="Text 8"/>
          <p:cNvSpPr txBox="1"/>
          <p:nvPr/>
        </p:nvSpPr>
        <p:spPr>
          <a:xfrm>
            <a:off x="8211312" y="2148840"/>
            <a:ext cx="34015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2700" b="1">
                <a:solidFill>
                  <a:srgbClr val="315C3A"/>
                </a:solidFill>
                <a:latin typeface="Calibri"/>
              </a:rPr>
              <a:t>Explore</a:t>
            </a:r>
            <a:endParaRPr lang="en-GB"/>
          </a:p>
        </p:txBody>
      </p:sp>
      <p:sp>
        <p:nvSpPr>
          <p:cNvPr id="9" name="Text 9"/>
          <p:cNvSpPr txBox="1"/>
          <p:nvPr/>
        </p:nvSpPr>
        <p:spPr>
          <a:xfrm>
            <a:off x="8211312" y="2798064"/>
            <a:ext cx="3310128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100" b="0">
                <a:solidFill>
                  <a:srgbClr val="1D2B25"/>
                </a:solidFill>
                <a:latin typeface="Calibri"/>
              </a:rPr>
              <a:t>See districts on a map and use the score threshold to narrow the list.</a:t>
            </a:r>
            <a:endParaRPr lang="en-GB"/>
          </a:p>
        </p:txBody>
      </p:sp>
      <p:sp>
        <p:nvSpPr>
          <p:cNvPr id="11" name="Text 11"/>
          <p:cNvSpPr txBox="1"/>
          <p:nvPr/>
        </p:nvSpPr>
        <p:spPr>
          <a:xfrm>
            <a:off x="749808" y="5623560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600" b="0">
                <a:solidFill>
                  <a:srgbClr val="53665B"/>
                </a:solidFill>
                <a:latin typeface="Calibri"/>
              </a:rPr>
              <a:t>The answer-reading AI is experimental. An editable review card is planned but not yet wired in.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8368" y="438912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3100" b="1">
                <a:solidFill>
                  <a:srgbClr val="1D2B25"/>
                </a:solidFill>
                <a:latin typeface="Calibri"/>
              </a:rPr>
              <a:t>See promising districts at a glance</a:t>
            </a:r>
            <a:endParaRPr lang="en-GB"/>
          </a:p>
        </p:txBody>
      </p:sp>
      <p:sp>
        <p:nvSpPr>
          <p:cNvPr id="3" name="Text 3"/>
          <p:cNvSpPr txBox="1"/>
          <p:nvPr/>
        </p:nvSpPr>
        <p:spPr>
          <a:xfrm>
            <a:off x="676656" y="1033272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>
                <a:solidFill>
                  <a:srgbClr val="53665B"/>
                </a:solidFill>
                <a:latin typeface="Calibri"/>
              </a:rPr>
              <a:t>Earlier map capture; the current build draws district outlines</a:t>
            </a:r>
            <a:endParaRPr lang="en-GB"/>
          </a:p>
        </p:txBody>
      </p:sp>
      <p:pic>
        <p:nvPicPr>
          <p:cNvPr id="4" name="Evidence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389888"/>
            <a:ext cx="9720072" cy="4928616"/>
          </a:xfrm>
          <a:prstGeom prst="rect">
            <a:avLst/>
          </a:prstGeom>
          <a:ln>
            <a:noFill/>
          </a:ln>
        </p:spPr>
      </p:pic>
      <p:sp>
        <p:nvSpPr>
          <p:cNvPr id="5" name="Text 5"/>
          <p:cNvSpPr txBox="1"/>
          <p:nvPr/>
        </p:nvSpPr>
        <p:spPr>
          <a:xfrm>
            <a:off x="713232" y="6428232"/>
            <a:ext cx="10607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200" b="0">
                <a:solidFill>
                  <a:srgbClr val="53665B"/>
                </a:solidFill>
                <a:latin typeface="Calibri"/>
              </a:rPr>
              <a:t>Source: docs/evidence/10-live-site.png · adrielau.github.io/PlotLuck/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8368" y="438912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3100" b="1">
                <a:solidFill>
                  <a:srgbClr val="1D2B25"/>
                </a:solidFill>
                <a:latin typeface="Calibri"/>
              </a:rPr>
              <a:t>We trained the model on IBM LinuxONE</a:t>
            </a:r>
            <a:endParaRPr lang="en-GB"/>
          </a:p>
        </p:txBody>
      </p:sp>
      <p:sp>
        <p:nvSpPr>
          <p:cNvPr id="3" name="Text 3"/>
          <p:cNvSpPr txBox="1"/>
          <p:nvPr/>
        </p:nvSpPr>
        <p:spPr>
          <a:xfrm>
            <a:off x="676656" y="1033272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>
                <a:solidFill>
                  <a:srgbClr val="53665B"/>
                </a:solidFill>
                <a:latin typeface="Calibri"/>
              </a:rPr>
              <a:t>The screenshots show our Jupyter run and the s390x environment</a:t>
            </a:r>
            <a:endParaRPr lang="en-GB"/>
          </a:p>
        </p:txBody>
      </p:sp>
      <p:pic>
        <p:nvPicPr>
          <p:cNvPr id="4" name="Evidence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45920"/>
            <a:ext cx="7086600" cy="3822192"/>
          </a:xfrm>
          <a:prstGeom prst="rect">
            <a:avLst/>
          </a:prstGeom>
          <a:ln>
            <a:noFill/>
          </a:ln>
        </p:spPr>
      </p:pic>
      <p:pic>
        <p:nvPicPr>
          <p:cNvPr id="5" name="Evidence 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865376"/>
            <a:ext cx="3355848" cy="1362456"/>
          </a:xfrm>
          <a:prstGeom prst="rect">
            <a:avLst/>
          </a:prstGeom>
          <a:ln>
            <a:noFill/>
          </a:ln>
        </p:spPr>
      </p:pic>
      <p:sp>
        <p:nvSpPr>
          <p:cNvPr id="6" name="Text 6"/>
          <p:cNvSpPr txBox="1"/>
          <p:nvPr/>
        </p:nvSpPr>
        <p:spPr>
          <a:xfrm>
            <a:off x="8010144" y="3520440"/>
            <a:ext cx="32461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2400" b="1">
                <a:solidFill>
                  <a:srgbClr val="315C3A"/>
                </a:solidFill>
                <a:latin typeface="Calibri"/>
              </a:rPr>
              <a:t>After training</a:t>
            </a:r>
            <a:endParaRPr lang="en-GB"/>
          </a:p>
          <a:p>
            <a:pPr algn="l"/>
            <a:r>
              <a:rPr lang="en-GB" sz="1800" b="0">
                <a:solidFill>
                  <a:srgbClr val="1D2B25"/>
                </a:solidFill>
                <a:latin typeface="Calibri"/>
              </a:rPr>
              <a:t>We exported the weights so the website can keep scoring after the VM expires.</a:t>
            </a:r>
            <a:endParaRPr lang="en-GB"/>
          </a:p>
        </p:txBody>
      </p:sp>
      <p:sp>
        <p:nvSpPr>
          <p:cNvPr id="7" name="Text 7"/>
          <p:cNvSpPr txBox="1"/>
          <p:nvPr/>
        </p:nvSpPr>
        <p:spPr>
          <a:xfrm>
            <a:off x="685800" y="58247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200" b="0">
                <a:solidFill>
                  <a:srgbClr val="53665B"/>
                </a:solidFill>
                <a:latin typeface="Calibri"/>
              </a:rPr>
              <a:t>Sources: docs/evidence/05-train-nn1.png; 01-ssh-lscpu.png</a:t>
            </a:r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8368" y="438912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3100" b="1">
                <a:solidFill>
                  <a:srgbClr val="1D2B25"/>
                </a:solidFill>
                <a:latin typeface="Calibri"/>
              </a:rPr>
              <a:t>How well did the model predict?</a:t>
            </a:r>
            <a:endParaRPr lang="en-GB"/>
          </a:p>
        </p:txBody>
      </p:sp>
      <p:sp>
        <p:nvSpPr>
          <p:cNvPr id="3" name="Text 3"/>
          <p:cNvSpPr txBox="1"/>
          <p:nvPr/>
        </p:nvSpPr>
        <p:spPr>
          <a:xfrm>
            <a:off x="676656" y="1033272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>
                <a:solidFill>
                  <a:srgbClr val="53665B"/>
                </a:solidFill>
                <a:latin typeface="Calibri"/>
              </a:rPr>
              <a:t>Average prediction error across five district-grouped test folds; lower is better</a:t>
            </a:r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49808" y="1938528"/>
            <a:ext cx="475488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5200" b="1">
                <a:solidFill>
                  <a:srgbClr val="315C3A"/>
                </a:solidFill>
                <a:latin typeface="Calibri"/>
              </a:rPr>
              <a:t>0.0503</a:t>
            </a:r>
            <a:endParaRPr lang="en-GB"/>
          </a:p>
          <a:p>
            <a:pPr algn="l"/>
            <a:r>
              <a:rPr lang="en-GB" sz="2200" b="0">
                <a:solidFill>
                  <a:srgbClr val="1D2B25"/>
                </a:solidFill>
                <a:latin typeface="Calibri"/>
              </a:rPr>
              <a:t>NN1 mean absolute error</a:t>
            </a:r>
            <a:endParaRPr lang="en-GB"/>
          </a:p>
        </p:txBody>
      </p:sp>
      <p:sp>
        <p:nvSpPr>
          <p:cNvPr id="5" name="Text 5"/>
          <p:cNvSpPr txBox="1"/>
          <p:nvPr/>
        </p:nvSpPr>
        <p:spPr>
          <a:xfrm>
            <a:off x="6035040" y="1938528"/>
            <a:ext cx="475488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5200" b="1">
                <a:solidFill>
                  <a:srgbClr val="53665B"/>
                </a:solidFill>
                <a:latin typeface="Calibri"/>
              </a:rPr>
              <a:t>0.0823</a:t>
            </a:r>
            <a:endParaRPr lang="en-GB"/>
          </a:p>
          <a:p>
            <a:pPr algn="l"/>
            <a:r>
              <a:rPr lang="en-GB" sz="2200" b="0">
                <a:solidFill>
                  <a:srgbClr val="1D2B25"/>
                </a:solidFill>
                <a:latin typeface="Calibri"/>
              </a:rPr>
              <a:t>Baseline mean absolute error</a:t>
            </a:r>
            <a:endParaRPr lang="en-GB"/>
          </a:p>
        </p:txBody>
      </p:sp>
      <p:sp>
        <p:nvSpPr>
          <p:cNvPr id="6" name="Text 6"/>
          <p:cNvSpPr txBox="1"/>
          <p:nvPr/>
        </p:nvSpPr>
        <p:spPr>
          <a:xfrm>
            <a:off x="749808" y="4233672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200" b="0">
                <a:solidFill>
                  <a:srgbClr val="1D2B25"/>
                </a:solidFill>
                <a:latin typeface="Calibri"/>
              </a:rPr>
              <a:t>The score uses customer ratings and review activity. It does not predict profit or whether a restaurant will survive.</a:t>
            </a:r>
            <a:endParaRPr lang="en-GB"/>
          </a:p>
        </p:txBody>
      </p:sp>
      <p:sp>
        <p:nvSpPr>
          <p:cNvPr id="7" name="Text 7"/>
          <p:cNvSpPr txBox="1"/>
          <p:nvPr/>
        </p:nvSpPr>
        <p:spPr>
          <a:xfrm>
            <a:off x="749808" y="574243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>
                <a:solidFill>
                  <a:srgbClr val="53665B"/>
                </a:solidFill>
                <a:latin typeface="Calibri"/>
              </a:rPr>
              <a:t>Source: runs/2026-10-17-train-nn1-cleaned/metrics.json · 131,655 labelled restaurants</a:t>
            </a: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58368" y="438912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3100" b="1">
                <a:solidFill>
                  <a:srgbClr val="1D2B25"/>
                </a:solidFill>
                <a:latin typeface="Calibri"/>
              </a:rPr>
              <a:t>A shortlist, not a promise</a:t>
            </a:r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31520" y="1645920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2900" b="1">
                <a:solidFill>
                  <a:srgbClr val="315C3A"/>
                </a:solidFill>
                <a:latin typeface="Calibri"/>
              </a:rPr>
              <a:t>Use it to decide where to look</a:t>
            </a:r>
            <a:endParaRPr lang="en-GB"/>
          </a:p>
        </p:txBody>
      </p:sp>
      <p:sp>
        <p:nvSpPr>
          <p:cNvPr id="5" name="Text 5"/>
          <p:cNvSpPr txBox="1"/>
          <p:nvPr/>
        </p:nvSpPr>
        <p:spPr>
          <a:xfrm>
            <a:off x="749808" y="2487168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200" b="0">
                <a:solidFill>
                  <a:srgbClr val="1D2B25"/>
                </a:solidFill>
                <a:latin typeface="Calibri"/>
              </a:rPr>
              <a:t>The data may miss restaurants that closed. District averages cannot tell you what one street or lease will be like.</a:t>
            </a:r>
            <a:endParaRPr lang="en-GB"/>
          </a:p>
        </p:txBody>
      </p:sp>
      <p:sp>
        <p:nvSpPr>
          <p:cNvPr id="6" name="Text 6"/>
          <p:cNvSpPr txBox="1"/>
          <p:nvPr/>
        </p:nvSpPr>
        <p:spPr>
          <a:xfrm>
            <a:off x="749808" y="3767328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200" b="0">
                <a:solidFill>
                  <a:srgbClr val="1D2B25"/>
                </a:solidFill>
                <a:latin typeface="Calibri"/>
              </a:rPr>
              <a:t>We still need to check how well the district ranking works for each cuisine. Founders should visit sites and check the numbers themselves.</a:t>
            </a:r>
            <a:endParaRPr lang="en-GB"/>
          </a:p>
        </p:txBody>
      </p:sp>
      <p:sp>
        <p:nvSpPr>
          <p:cNvPr id="7" name="Text 7"/>
          <p:cNvSpPr txBox="1"/>
          <p:nvPr/>
        </p:nvSpPr>
        <p:spPr>
          <a:xfrm>
            <a:off x="749808" y="566928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600" b="0">
                <a:solidFill>
                  <a:srgbClr val="53665B"/>
                </a:solidFill>
                <a:latin typeface="Calibri"/>
              </a:rPr>
              <a:t>The answer-reading AI and LinuxONE acceleration benchmark are still being tested.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31520" y="1298448"/>
            <a:ext cx="1078992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1400"/>
              </a:spcAft>
            </a:pPr>
            <a:r>
              <a:rPr lang="en-GB" sz="4000" b="1">
                <a:solidFill>
                  <a:srgbClr val="1D2B25"/>
                </a:solidFill>
                <a:latin typeface="Calibri"/>
              </a:rPr>
              <a:t>Know where to look first</a:t>
            </a:r>
            <a:endParaRPr lang="en-GB"/>
          </a:p>
        </p:txBody>
      </p:sp>
      <p:sp>
        <p:nvSpPr>
          <p:cNvPr id="3" name="Text 3"/>
          <p:cNvSpPr txBox="1"/>
          <p:nvPr/>
        </p:nvSpPr>
        <p:spPr>
          <a:xfrm>
            <a:off x="749808" y="297180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800" b="0">
                <a:solidFill>
                  <a:srgbClr val="315C3A"/>
                </a:solidFill>
                <a:latin typeface="Calibri"/>
              </a:rPr>
              <a:t>Plotluck gives independent founders a clearer starting point.</a:t>
            </a:r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68096" y="4800600"/>
            <a:ext cx="10698480" cy="4846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000" b="0">
                <a:solidFill>
                  <a:srgbClr val="1D2B25"/>
                </a:solidFill>
                <a:latin typeface="Calibri"/>
              </a:rPr>
              <a:t>Live demo  ·  adrielau.github.io/PlotLuck/</a:t>
            </a:r>
            <a:endParaRPr lang="en-GB"/>
          </a:p>
        </p:txBody>
      </p:sp>
      <p:sp>
        <p:nvSpPr>
          <p:cNvPr id="5" name="Text 5"/>
          <p:cNvSpPr txBox="1"/>
          <p:nvPr/>
        </p:nvSpPr>
        <p:spPr>
          <a:xfrm>
            <a:off x="768096" y="5394960"/>
            <a:ext cx="10698480" cy="4846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000" b="0">
                <a:solidFill>
                  <a:srgbClr val="1D2B25"/>
                </a:solidFill>
                <a:latin typeface="Calibri"/>
              </a:rPr>
              <a:t>Code and evidence  ·  github.com/AdrielAu/PlotLuck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 standalone="yes"?><a:theme xmlns:a="http://schemas.openxmlformats.org/drawingml/2006/main" name="Plotluck"><a:themeElements><a:clrScheme name="Plotluck"><a:dk1><a:srgbClr val="1D2B25"/></a:dk1><a:lt1><a:srgbClr val="F7F6F2"/></a:lt1><a:dk2><a:srgbClr val="315C3A"/></a:dk2><a:lt2><a:srgbClr val="FFFFFF"/></a:lt2><a:accent1><a:srgbClr val="315C3A"/></a:accent1<a:accent2><a:srgbClr val="88A17D"/></a:accent2<a:accent3><a:srgbClr val="53665B"/></a:accent3<a:accent4><a:srgbClr val="B5C1AC"/></a:accent4<a:accent5><a:srgbClr val="777F70"/></a:accent5<a:accent6><a:srgbClr val="D9DFD5"/></a:accent6<a:hlink><a:srgbClr val="315C3A"/></a:hlink><a:folHlink><a:srgbClr val="53665B"/></a:folHlink></a:clrScheme><a:fontScheme name="Plotluck"><a:majorFont><a:latin typeface="Calibri"/></a:majorFont><a:minorFont><a:latin typeface="Calibri"/></a:minorFont></a:fontScheme><a:fmtScheme name="Plotluck"><a:fillStyleLst><a:solidFill><a:schemeClr val="accent1"/></a:solidFill><a:solidFill><a:schemeClr val="accent2"/></a:solidFill><a:solidFill><a:schemeClr val="accent3"/></a:solidFill></a:fillStyleLst><a:lnStyleLst><a:ln w="9525"><a:solidFill><a:schemeClr val="accent1"/></a:solidFill></a:ln><a:ln w="25400"><a:solidFill><a:schemeClr val="accent2"/></a:solidFill></a:ln><a:ln w="38100"><a:solidFill><a:schemeClr val="accent3"/></a:solidFill></a:ln></a:lnStyleLst><a:effectStyleLst><a:effectStyle><a:effectLst/></a:effectStyle><a:effectStyle><a:effectLst/></a:effectStyle><a:effectStyle><a:effectLst/></a:effectStyle></a:effectStyleLst><a:bgFillStyleLst><a:solidFill><a:schemeClr val="lt1"/></a:solidFill><a:solidFill><a:schemeClr val="lt2"/></a:solidFill><a:solidFill><a:schemeClr val="dk1"/></a:solidFill></a:bgFillStyleLst></a:fmtScheme></a:themeElements><a:objectDefaults/><a:extraClrSchemeLst/></a:theme>
</file>

<file path=docProps/app.xml><?xml version="1.0" encoding="utf-8"?>
<Properties xmlns="http://schemas.openxmlformats.org/officeDocument/2006/extended-properties">
  <Application>Microsoft Office PowerPoint</Application>
  <Slides>8</Slides>
</Properties>
</file>

<file path=docProps/core.xml><?xml version="1.0" encoding="utf-8"?>
<cp:coreProperties xmlns:cp="http://schemas.openxmlformats.org/package/2006/metadata/core-properties" xmlns:dc="http://purl.org/dc/elements/1.1/">
  <dc:title>Plotluck initial pitch</dc:title>
  <dc:creator>Plotluck</dc:creator>
</cp:coreProperties>
</file>